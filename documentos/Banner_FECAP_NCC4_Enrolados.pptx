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jpeg" ContentType="image/jpeg"/>
  <Override PartName="/ppt/media/image6.png" ContentType="image/png"/>
  <Override PartName="/ppt/media/image10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9.png" ContentType="image/png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28800425" cy="43200638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Clique para mover o slide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q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p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&lt;cabeçalho&gt;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22AC05E-B5E2-4348-837E-8AD788FFBAE0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sldImg"/>
          </p:nvPr>
        </p:nvSpPr>
        <p:spPr>
          <a:xfrm>
            <a:off x="2286000" y="685800"/>
            <a:ext cx="2284200" cy="3427200"/>
          </a:xfrm>
          <a:prstGeom prst="rect">
            <a:avLst/>
          </a:prstGeom>
          <a:ln w="0">
            <a:noFill/>
          </a:ln>
        </p:spPr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200" spc="-1" strike="noStrike">
                <a:solidFill>
                  <a:srgbClr val="000000"/>
                </a:solidFill>
                <a:latin typeface="Calibri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FC27978-D3F1-47B7-A9D9-8B109ED93AE1}" type="slidenum">
              <a:rPr b="0" lang="pt-BR" sz="1200" spc="-1" strike="noStrike">
                <a:solidFill>
                  <a:srgbClr val="000000"/>
                </a:solidFill>
                <a:latin typeface="Calibri"/>
                <a:ea typeface="ＭＳ Ｐゴシック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160720" y="13420440"/>
            <a:ext cx="24476760" cy="925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1440000" y="10108800"/>
            <a:ext cx="25919640" cy="2505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7ADC23B-9910-4591-B083-D81C2EB196B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2160720" y="13420440"/>
            <a:ext cx="24476760" cy="925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9839160" y="39340440"/>
            <a:ext cx="9119880" cy="29991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308520" rIns="308520" tIns="154440" bIns="15444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20639520" y="39340440"/>
            <a:ext cx="6720120" cy="29991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308520" rIns="308520" tIns="154440" bIns="154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626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283162D-5925-4471-A8FE-90E20A03A9FB}" type="slidenum">
              <a:rPr b="0" lang="pt-BR" sz="6260" spc="-1" strike="noStrike">
                <a:solidFill>
                  <a:schemeClr val="dk1"/>
                </a:solidFill>
                <a:latin typeface="Arial"/>
              </a:rPr>
              <a:t>&lt;número&gt;</a:t>
            </a:fld>
            <a:endParaRPr b="0" lang="pt-BR" sz="62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1439280" y="39340440"/>
            <a:ext cx="6720120" cy="29991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308520" rIns="308520" tIns="154440" bIns="15444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5" descr=""/>
          <p:cNvPicPr/>
          <p:nvPr/>
        </p:nvPicPr>
        <p:blipFill>
          <a:blip r:embed="rId1"/>
          <a:stretch/>
        </p:blipFill>
        <p:spPr>
          <a:xfrm>
            <a:off x="25920" y="-339120"/>
            <a:ext cx="28773000" cy="43177680"/>
          </a:xfrm>
          <a:prstGeom prst="rect">
            <a:avLst/>
          </a:prstGeom>
          <a:ln w="0">
            <a:noFill/>
          </a:ln>
        </p:spPr>
      </p:pic>
      <p:sp>
        <p:nvSpPr>
          <p:cNvPr id="13" name="Rectangle 6"/>
          <p:cNvSpPr/>
          <p:nvPr/>
        </p:nvSpPr>
        <p:spPr>
          <a:xfrm>
            <a:off x="-36720" y="2706840"/>
            <a:ext cx="28798560" cy="65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pt-BR" sz="3740" spc="-1" strike="noStrike">
                <a:solidFill>
                  <a:schemeClr val="dk1"/>
                </a:solidFill>
                <a:latin typeface="Arial"/>
                <a:ea typeface="ＭＳ Ｐゴシック"/>
              </a:rPr>
              <a:t> </a:t>
            </a:r>
            <a:r>
              <a:rPr b="1" lang="pt-BR" sz="3740" spc="-1" strike="noStrike">
                <a:solidFill>
                  <a:schemeClr val="dk1"/>
                </a:solidFill>
                <a:latin typeface="Arial"/>
                <a:ea typeface="ＭＳ Ｐゴシック"/>
              </a:rPr>
              <a:t>Guilherme Barioni; Iury Xavier; Lilian Mercedes; Marcus Miranda; Murilo Vieira</a:t>
            </a:r>
            <a:endParaRPr b="0" lang="pt-BR" sz="37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Box 8"/>
          <p:cNvSpPr/>
          <p:nvPr/>
        </p:nvSpPr>
        <p:spPr>
          <a:xfrm>
            <a:off x="690480" y="4992480"/>
            <a:ext cx="13282920" cy="57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1678320">
              <a:lnSpc>
                <a:spcPct val="100000"/>
              </a:lnSpc>
            </a:pPr>
            <a:r>
              <a:rPr b="1" lang="pt-BR" sz="3600" spc="-1" strike="noStrike">
                <a:solidFill>
                  <a:schemeClr val="dk1"/>
                </a:solidFill>
                <a:latin typeface="Arial"/>
                <a:ea typeface="ＭＳ Ｐゴシック"/>
              </a:rPr>
              <a:t>Sobre a equipe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  <a:p>
            <a:pPr algn="just" defTabSz="1678320">
              <a:lnSpc>
                <a:spcPct val="100000"/>
              </a:lnSpc>
              <a:spcAft>
                <a:spcPts val="1199"/>
              </a:spcAft>
            </a:pPr>
            <a:r>
              <a:rPr b="0" lang="pt-BR" sz="3740" spc="-1" strike="noStrike">
                <a:solidFill>
                  <a:schemeClr val="dk1"/>
                </a:solidFill>
                <a:latin typeface="Arial"/>
                <a:ea typeface="ＭＳ Ｐゴシック"/>
              </a:rPr>
              <a:t> </a:t>
            </a:r>
            <a:r>
              <a:rPr b="0" lang="pt-BR" sz="2660" spc="-1" strike="noStrike">
                <a:solidFill>
                  <a:schemeClr val="dk1"/>
                </a:solidFill>
                <a:latin typeface="Arial"/>
                <a:ea typeface="ＭＳ Ｐゴシック"/>
              </a:rPr>
              <a:t>	</a:t>
            </a:r>
            <a:r>
              <a:rPr b="0" lang="pt-BR" sz="2660" spc="-1" strike="noStrike">
                <a:solidFill>
                  <a:schemeClr val="dk1"/>
                </a:solidFill>
                <a:latin typeface="Arial"/>
                <a:ea typeface="ＭＳ Ｐゴシック"/>
              </a:rPr>
              <a:t> </a:t>
            </a:r>
            <a:r>
              <a:rPr b="0" lang="pt-BR" sz="2660" spc="-1" strike="noStrike">
                <a:solidFill>
                  <a:schemeClr val="dk1"/>
                </a:solidFill>
                <a:latin typeface="Arial"/>
                <a:ea typeface="ＭＳ Ｐゴシック"/>
              </a:rPr>
              <a:t>Nossa equipe adotou o nome Enrolados, representando o nosso laço inabalável durante o desenvolvimento do nosso projeto, reforçado pelo nossa paixão pela tecnologia.</a:t>
            </a:r>
            <a:endParaRPr b="0" lang="pt-BR" sz="2660" spc="-1" strike="noStrike">
              <a:solidFill>
                <a:srgbClr val="000000"/>
              </a:solidFill>
              <a:latin typeface="Arial"/>
            </a:endParaRPr>
          </a:p>
          <a:p>
            <a:pPr algn="just" defTabSz="1678320">
              <a:lnSpc>
                <a:spcPct val="100000"/>
              </a:lnSpc>
              <a:spcAft>
                <a:spcPts val="1199"/>
              </a:spcAft>
            </a:pPr>
            <a:r>
              <a:rPr b="0" lang="pt-BR" sz="2660" spc="-1" strike="noStrike">
                <a:solidFill>
                  <a:schemeClr val="dk1"/>
                </a:solidFill>
                <a:latin typeface="Arial"/>
                <a:ea typeface="ＭＳ Ｐゴシック"/>
              </a:rPr>
              <a:t>	</a:t>
            </a:r>
            <a:r>
              <a:rPr b="0" lang="pt-BR" sz="2660" spc="-1" strike="noStrike">
                <a:solidFill>
                  <a:schemeClr val="dk1"/>
                </a:solidFill>
                <a:latin typeface="Arial"/>
                <a:ea typeface="ＭＳ Ｐゴシック"/>
              </a:rPr>
              <a:t>O campo da ciência de dados, trouxe uma oportunidade única de aprendizado e aplicação das ideias e ferramentas que foram introduzidas durante o curso.</a:t>
            </a:r>
            <a:endParaRPr b="0" lang="pt-BR" sz="2660" spc="-1" strike="noStrike">
              <a:solidFill>
                <a:srgbClr val="000000"/>
              </a:solidFill>
              <a:latin typeface="Arial"/>
            </a:endParaRPr>
          </a:p>
          <a:p>
            <a:pPr algn="just" defTabSz="1678320">
              <a:lnSpc>
                <a:spcPct val="100000"/>
              </a:lnSpc>
              <a:spcAft>
                <a:spcPts val="1199"/>
              </a:spcAft>
            </a:pPr>
            <a:r>
              <a:rPr b="0" lang="pt-BR" sz="2660" spc="-1" strike="noStrike">
                <a:solidFill>
                  <a:schemeClr val="dk1"/>
                </a:solidFill>
                <a:latin typeface="Arial"/>
                <a:ea typeface="ＭＳ Ｐゴシック"/>
              </a:rPr>
              <a:t>	</a:t>
            </a:r>
            <a:r>
              <a:rPr b="0" lang="pt-BR" sz="2660" spc="-1" strike="noStrike">
                <a:solidFill>
                  <a:schemeClr val="dk1"/>
                </a:solidFill>
                <a:latin typeface="Arial"/>
                <a:ea typeface="ＭＳ Ｐゴシック"/>
              </a:rPr>
              <a:t>Para garantir um desenvolvimento fluído e sem atritos, utilizamos os princípios da Engenharia de Software, com as responsabilidades divididas de acordo com a capacidade de cada integrante, utilizando conceitos da metodologia ágil e ferramentas como o Github Project para gerenciar o fluxo de trabalho.</a:t>
            </a:r>
            <a:endParaRPr b="0" lang="pt-BR" sz="2660" spc="-1" strike="noStrike">
              <a:solidFill>
                <a:srgbClr val="000000"/>
              </a:solidFill>
              <a:latin typeface="Arial"/>
            </a:endParaRPr>
          </a:p>
          <a:p>
            <a:pPr algn="just" defTabSz="1678320">
              <a:lnSpc>
                <a:spcPct val="100000"/>
              </a:lnSpc>
              <a:spcAft>
                <a:spcPts val="1199"/>
              </a:spcAft>
            </a:pPr>
            <a:endParaRPr b="0" lang="pt-BR" sz="26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Rectangle 13"/>
          <p:cNvSpPr/>
          <p:nvPr/>
        </p:nvSpPr>
        <p:spPr>
          <a:xfrm>
            <a:off x="0" y="-669240"/>
            <a:ext cx="182880" cy="13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>
              <a:lnSpc>
                <a:spcPct val="100000"/>
              </a:lnSpc>
            </a:pPr>
            <a:endParaRPr b="0" lang="en-US" sz="8100" spc="-1" strike="noStrike">
              <a:solidFill>
                <a:schemeClr val="dk1"/>
              </a:solidFill>
              <a:latin typeface="Arial"/>
              <a:ea typeface="ＭＳ Ｐゴシック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33160" y="1091160"/>
            <a:ext cx="27922680" cy="22564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308520" rIns="308520" tIns="154440" bIns="154440" anchor="ctr">
            <a:noAutofit/>
          </a:bodyPr>
          <a:p>
            <a:pPr indent="0" algn="ctr" defTabSz="411444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5860" spc="-1" strike="noStrike">
                <a:solidFill>
                  <a:schemeClr val="dk2"/>
                </a:solidFill>
                <a:latin typeface="Arial"/>
              </a:rPr>
              <a:t>PicDash</a:t>
            </a:r>
            <a:endParaRPr b="0" lang="pt-BR" sz="5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Rectangle 14"/>
          <p:cNvSpPr/>
          <p:nvPr/>
        </p:nvSpPr>
        <p:spPr>
          <a:xfrm>
            <a:off x="1540800" y="288360"/>
            <a:ext cx="25808040" cy="16171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411480" rIns="411480" tIns="205560" bIns="20556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8000" spc="-1" strike="noStrike">
                <a:solidFill>
                  <a:schemeClr val="lt1"/>
                </a:solidFill>
                <a:latin typeface="Arial"/>
                <a:ea typeface="DejaVu Sans"/>
              </a:rPr>
              <a:t>Semana de Tecnologia FECAP 2025</a:t>
            </a:r>
            <a:endParaRPr b="0" lang="pt-BR" sz="8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Box 8"/>
          <p:cNvSpPr/>
          <p:nvPr/>
        </p:nvSpPr>
        <p:spPr>
          <a:xfrm>
            <a:off x="14653080" y="4992480"/>
            <a:ext cx="13282920" cy="634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1678320">
              <a:lnSpc>
                <a:spcPct val="100000"/>
              </a:lnSpc>
            </a:pPr>
            <a:r>
              <a:rPr b="1" lang="pt-BR" sz="3600" spc="-1" strike="noStrike">
                <a:solidFill>
                  <a:schemeClr val="dk1"/>
                </a:solidFill>
                <a:latin typeface="Arial"/>
                <a:ea typeface="ＭＳ Ｐゴシック"/>
              </a:rPr>
              <a:t>Problema a ser tratado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  <a:p>
            <a:pPr algn="just" defTabSz="1678320">
              <a:lnSpc>
                <a:spcPct val="100000"/>
              </a:lnSpc>
              <a:spcAft>
                <a:spcPts val="1199"/>
              </a:spcAft>
            </a:pPr>
            <a:r>
              <a:rPr b="0" lang="pt-BR" sz="3740" spc="-1" strike="noStrike">
                <a:solidFill>
                  <a:schemeClr val="dk1"/>
                </a:solidFill>
                <a:latin typeface="Arial"/>
                <a:ea typeface="ＭＳ Ｐゴシック"/>
              </a:rPr>
              <a:t> </a:t>
            </a:r>
            <a:r>
              <a:rPr b="0" lang="pt-BR" sz="2660" spc="-1" strike="noStrike">
                <a:solidFill>
                  <a:schemeClr val="dk1"/>
                </a:solidFill>
                <a:latin typeface="Arial"/>
                <a:ea typeface="ＭＳ Ｐゴシック"/>
              </a:rPr>
              <a:t>	</a:t>
            </a:r>
            <a:r>
              <a:rPr b="0" lang="pt-BR" sz="2400" spc="-1" strike="noStrike">
                <a:solidFill>
                  <a:schemeClr val="dk1"/>
                </a:solidFill>
                <a:latin typeface="Arial"/>
                <a:ea typeface="ＭＳ Ｐゴシック"/>
              </a:rPr>
              <a:t>  </a:t>
            </a:r>
            <a:r>
              <a:rPr b="0" lang="pt-BR" sz="2660" spc="-1" strike="noStrike">
                <a:solidFill>
                  <a:schemeClr val="dk1"/>
                </a:solidFill>
                <a:latin typeface="Arial"/>
                <a:ea typeface="ＭＳ Ｐゴシック"/>
              </a:rPr>
              <a:t>Com o envio das 4 planilhas que representam a situação financeira da Picmoney. O problema a ser tratado foi o tratamento de dados de uma quantidade massiva de informações e como apresentá-los em uma Dashboard interativa, intuitiva e visualmente interessante com a utilização dos conceitos da ciência de dados.</a:t>
            </a:r>
            <a:endParaRPr b="0" lang="pt-BR" sz="2660" spc="-1" strike="noStrike">
              <a:solidFill>
                <a:srgbClr val="000000"/>
              </a:solidFill>
              <a:latin typeface="Arial"/>
            </a:endParaRPr>
          </a:p>
          <a:p>
            <a:pPr algn="just" defTabSz="1678320">
              <a:lnSpc>
                <a:spcPct val="100000"/>
              </a:lnSpc>
              <a:spcAft>
                <a:spcPts val="1199"/>
              </a:spcAft>
            </a:pPr>
            <a:r>
              <a:rPr b="0" lang="pt-BR" sz="2660" spc="-1" strike="noStrike">
                <a:solidFill>
                  <a:schemeClr val="dk1"/>
                </a:solidFill>
                <a:latin typeface="Arial"/>
                <a:ea typeface="ＭＳ Ｐゴシック"/>
              </a:rPr>
              <a:t>	</a:t>
            </a:r>
            <a:r>
              <a:rPr b="0" lang="pt-BR" sz="2660" spc="-1" strike="noStrike">
                <a:solidFill>
                  <a:schemeClr val="dk1"/>
                </a:solidFill>
                <a:latin typeface="Arial"/>
                <a:ea typeface="ＭＳ Ｐゴシック"/>
              </a:rPr>
              <a:t>Realizamos a seleção, limpeza e padronização dos daods, sendo necessário a definição de KPIs para o CEO e CFO, com a intenção de proporcionar uma análise relevante sobre a empresa e ajudar a PicMoney a tomar decisões estratégicas, direcionada a cada posição de liderança.</a:t>
            </a:r>
            <a:endParaRPr b="0" lang="pt-BR" sz="2660" spc="-1" strike="noStrike">
              <a:solidFill>
                <a:srgbClr val="000000"/>
              </a:solidFill>
              <a:latin typeface="Arial"/>
            </a:endParaRPr>
          </a:p>
          <a:p>
            <a:pPr algn="just" defTabSz="1678320">
              <a:lnSpc>
                <a:spcPct val="100000"/>
              </a:lnSpc>
              <a:spcAft>
                <a:spcPts val="1199"/>
              </a:spcAft>
            </a:pPr>
            <a:r>
              <a:rPr b="0" lang="pt-BR" sz="2400" spc="-1" strike="noStrike">
                <a:solidFill>
                  <a:schemeClr val="dk1"/>
                </a:solidFill>
                <a:latin typeface="Arial"/>
                <a:ea typeface="ＭＳ Ｐゴシック"/>
              </a:rPr>
              <a:t>	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algn="just" defTabSz="1678320">
              <a:lnSpc>
                <a:spcPct val="100000"/>
              </a:lnSpc>
              <a:spcAft>
                <a:spcPts val="1199"/>
              </a:spcAft>
            </a:pPr>
            <a:r>
              <a:rPr b="0" lang="pt-BR" sz="2400" spc="-1" strike="noStrike">
                <a:solidFill>
                  <a:schemeClr val="dk1"/>
                </a:solidFill>
                <a:latin typeface="Arial"/>
                <a:ea typeface="ＭＳ Ｐゴシック"/>
              </a:rPr>
              <a:t>	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algn="just" defTabSz="1678320">
              <a:lnSpc>
                <a:spcPct val="100000"/>
              </a:lnSpc>
              <a:spcAft>
                <a:spcPts val="1199"/>
              </a:spcAft>
            </a:pPr>
            <a:endParaRPr b="0" lang="pt-BR" sz="2660" spc="-1" strike="noStrike">
              <a:solidFill>
                <a:srgbClr val="000000"/>
              </a:solidFill>
              <a:latin typeface="Arial"/>
            </a:endParaRPr>
          </a:p>
          <a:p>
            <a:pPr algn="just" defTabSz="1678320">
              <a:lnSpc>
                <a:spcPct val="100000"/>
              </a:lnSpc>
              <a:spcAft>
                <a:spcPts val="1199"/>
              </a:spcAft>
            </a:pPr>
            <a:r>
              <a:rPr b="0" lang="pt-BR" sz="2660" spc="-1" strike="noStrike">
                <a:solidFill>
                  <a:schemeClr val="dk1"/>
                </a:solidFill>
                <a:latin typeface="Arial"/>
                <a:ea typeface="ＭＳ Ｐゴシック"/>
              </a:rPr>
              <a:t>	</a:t>
            </a:r>
            <a:endParaRPr b="0" lang="pt-BR" sz="26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Box 8"/>
          <p:cNvSpPr/>
          <p:nvPr/>
        </p:nvSpPr>
        <p:spPr>
          <a:xfrm>
            <a:off x="630360" y="33543360"/>
            <a:ext cx="13317120" cy="70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1678320">
              <a:lnSpc>
                <a:spcPct val="100000"/>
              </a:lnSpc>
            </a:pPr>
            <a:r>
              <a:rPr b="1" lang="pt-BR" sz="3600" spc="-1" strike="noStrike">
                <a:solidFill>
                  <a:schemeClr val="dk1"/>
                </a:solidFill>
                <a:latin typeface="Arial"/>
                <a:ea typeface="ＭＳ Ｐゴシック"/>
              </a:rPr>
              <a:t>Solução proposta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  <a:p>
            <a:pPr algn="just" defTabSz="1678320">
              <a:lnSpc>
                <a:spcPct val="100000"/>
              </a:lnSpc>
              <a:spcAft>
                <a:spcPts val="1199"/>
              </a:spcAft>
            </a:pPr>
            <a:r>
              <a:rPr b="0" lang="pt-BR" sz="3740" spc="-1" strike="noStrike">
                <a:solidFill>
                  <a:schemeClr val="dk1"/>
                </a:solidFill>
                <a:latin typeface="Arial"/>
                <a:ea typeface="ＭＳ Ｐゴシック"/>
              </a:rPr>
              <a:t> </a:t>
            </a:r>
            <a:r>
              <a:rPr b="0" lang="pt-BR" sz="2660" spc="-1" strike="noStrike">
                <a:solidFill>
                  <a:schemeClr val="dk1"/>
                </a:solidFill>
                <a:latin typeface="Arial"/>
                <a:ea typeface="ＭＳ Ｐゴシック"/>
              </a:rPr>
              <a:t>	</a:t>
            </a:r>
            <a:r>
              <a:rPr b="0" lang="pt-BR" sz="2560" spc="-1" strike="noStrike">
                <a:solidFill>
                  <a:schemeClr val="dk1"/>
                </a:solidFill>
                <a:latin typeface="Arial"/>
                <a:ea typeface="ＭＳ Ｐゴシック"/>
              </a:rPr>
              <a:t>Para isso construímos a PicDash, uma Dashboard com o objetivo de sintetizar visualmente os dados financeiros da empresa, oferecendo uma visão detalhada para o CEO e CFO, tendo KPIs bem definidas que se encaixam nas necessidades executivas e financeiras de cada um. Ao entrar na Dashboard, o usuário terá a opção de entrar na sua conta ou cadastrar as suas credenciais, esse cadastro é o que permite uma visão personalizada para cada membro executivo. Com o acesso completo a plataforma, além das KPIs personalizadas, é possível visualizar todas as métricas gerais relacionadas a empresa, como a receita total, lucro liquido e margem operacional, todas elas podem ser expandidas para uma visualização mais detalhada, com gráficos interativos e informações mais completas, sendo possível exportar essas informações em um relatório PDF. Para ajudar na visão estratégica da empresa, a Dashboard também conta com uma mapa de calor interativo, sendo possível filtrar a localização de cupons capturados a partir de categorias como lojas parceiras, modelo de celular e outros dados dos usuários. Garantindo a longevidade da plataforma, o usuário tem a capacidade de realizar o envio de planilhas adicionais, sendo possível especificar o período e ao o que a planilha se refere.</a:t>
            </a:r>
            <a:endParaRPr b="0" lang="pt-BR" sz="25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Rectangle 2"/>
          <p:cNvSpPr/>
          <p:nvPr/>
        </p:nvSpPr>
        <p:spPr>
          <a:xfrm>
            <a:off x="12600" y="3056760"/>
            <a:ext cx="29590920" cy="13532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11480" rIns="411480" tIns="205560" bIns="205560" anchor="ctr">
            <a:noAutofit/>
          </a:bodyPr>
          <a:p>
            <a:pPr algn="ctr" defTabSz="3086280">
              <a:lnSpc>
                <a:spcPct val="100000"/>
              </a:lnSpc>
            </a:pPr>
            <a:r>
              <a:rPr b="1" lang="pt-BR" sz="2660" spc="-1" strike="noStrike">
                <a:solidFill>
                  <a:schemeClr val="dk2"/>
                </a:solidFill>
                <a:latin typeface="Arial"/>
                <a:ea typeface="DejaVu Sans"/>
              </a:rPr>
              <a:t>Professores: Eduardo Savino; Lucy Mari; Rodnil Lisboa; Mauricio Lopes</a:t>
            </a:r>
            <a:endParaRPr b="0" lang="pt-BR" sz="26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Box 8"/>
          <p:cNvSpPr/>
          <p:nvPr/>
        </p:nvSpPr>
        <p:spPr>
          <a:xfrm>
            <a:off x="14646960" y="33543360"/>
            <a:ext cx="13317120" cy="597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1678320">
              <a:lnSpc>
                <a:spcPct val="100000"/>
              </a:lnSpc>
            </a:pPr>
            <a:r>
              <a:rPr b="1" lang="pt-BR" sz="3600" spc="-1" strike="noStrike">
                <a:solidFill>
                  <a:schemeClr val="dk1"/>
                </a:solidFill>
                <a:latin typeface="Arial"/>
                <a:ea typeface="ＭＳ Ｐゴシック"/>
              </a:rPr>
              <a:t>Futuro do projeto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  <a:p>
            <a:pPr algn="just" defTabSz="1678320">
              <a:lnSpc>
                <a:spcPct val="100000"/>
              </a:lnSpc>
              <a:spcAft>
                <a:spcPts val="1199"/>
              </a:spcAft>
            </a:pPr>
            <a:r>
              <a:rPr b="0" lang="pt-BR" sz="3740" spc="-1" strike="noStrike">
                <a:solidFill>
                  <a:schemeClr val="dk1"/>
                </a:solidFill>
                <a:latin typeface="Arial"/>
                <a:ea typeface="ＭＳ Ｐゴシック"/>
              </a:rPr>
              <a:t> </a:t>
            </a:r>
            <a:r>
              <a:rPr b="0" lang="pt-BR" sz="2660" spc="-1" strike="noStrike">
                <a:solidFill>
                  <a:schemeClr val="dk1"/>
                </a:solidFill>
                <a:latin typeface="Arial"/>
                <a:ea typeface="ＭＳ Ｐゴシック"/>
              </a:rPr>
              <a:t>	</a:t>
            </a:r>
            <a:r>
              <a:rPr b="0" lang="pt-BR" sz="2660" spc="-1" strike="noStrike">
                <a:solidFill>
                  <a:schemeClr val="dk1"/>
                </a:solidFill>
                <a:latin typeface="Arial"/>
                <a:ea typeface="ＭＳ Ｐゴシック"/>
              </a:rPr>
              <a:t>Com mais tempo e recursos, gostaríamos de adicionar mais funcionalidades ao nosso aplicativo, buscando facilitar a compreensão para os cargos de liderança, além de oferecer uma análise mais detalhada sobre a situação financeira da empresa.</a:t>
            </a:r>
            <a:endParaRPr b="0" lang="pt-BR" sz="2660" spc="-1" strike="noStrike">
              <a:solidFill>
                <a:srgbClr val="000000"/>
              </a:solidFill>
              <a:latin typeface="Arial"/>
            </a:endParaRPr>
          </a:p>
          <a:p>
            <a:pPr algn="just" defTabSz="1678320">
              <a:lnSpc>
                <a:spcPct val="100000"/>
              </a:lnSpc>
              <a:spcAft>
                <a:spcPts val="1199"/>
              </a:spcAft>
            </a:pPr>
            <a:r>
              <a:rPr b="0" lang="pt-BR" sz="2660" spc="-1" strike="noStrike">
                <a:solidFill>
                  <a:schemeClr val="dk1"/>
                </a:solidFill>
                <a:latin typeface="Arial"/>
                <a:ea typeface="ＭＳ Ｐゴシック"/>
              </a:rPr>
              <a:t>	</a:t>
            </a:r>
            <a:r>
              <a:rPr b="0" lang="pt-BR" sz="2660" spc="-1" strike="noStrike">
                <a:solidFill>
                  <a:schemeClr val="dk1"/>
                </a:solidFill>
                <a:latin typeface="Arial"/>
                <a:ea typeface="ＭＳ Ｐゴシック"/>
              </a:rPr>
              <a:t> </a:t>
            </a:r>
            <a:r>
              <a:rPr b="0" lang="pt-BR" sz="2660" spc="-1" strike="noStrike">
                <a:solidFill>
                  <a:schemeClr val="dk1"/>
                </a:solidFill>
                <a:latin typeface="Arial"/>
                <a:ea typeface="ＭＳ Ｐゴシック"/>
              </a:rPr>
              <a:t>Uma das principais funcionalidades que gostaríamos de adicionar é integração com AI e Machine Learning, o que permitiria análises mais precisas e personalizadas, detecção de anomalias com a possibilidade de estimativas sobre a situação financeira futura da empresa e quais podem ser as melhores medidas para a garantir o sucesso.</a:t>
            </a:r>
            <a:endParaRPr b="0" lang="pt-BR" sz="2660" spc="-1" strike="noStrike">
              <a:solidFill>
                <a:srgbClr val="000000"/>
              </a:solidFill>
              <a:latin typeface="Arial"/>
            </a:endParaRPr>
          </a:p>
          <a:p>
            <a:pPr algn="just" defTabSz="1678320">
              <a:lnSpc>
                <a:spcPct val="100000"/>
              </a:lnSpc>
              <a:spcAft>
                <a:spcPts val="1199"/>
              </a:spcAft>
            </a:pPr>
            <a:r>
              <a:rPr b="0" lang="pt-BR" sz="2660" spc="-1" strike="noStrike">
                <a:solidFill>
                  <a:schemeClr val="dk1"/>
                </a:solidFill>
                <a:latin typeface="Arial"/>
                <a:ea typeface="ＭＳ Ｐゴシック"/>
              </a:rPr>
              <a:t>	</a:t>
            </a:r>
            <a:r>
              <a:rPr b="0" lang="pt-BR" sz="2660" spc="-1" strike="noStrike">
                <a:solidFill>
                  <a:schemeClr val="dk1"/>
                </a:solidFill>
                <a:latin typeface="Arial"/>
                <a:ea typeface="ＭＳ Ｐゴシック"/>
              </a:rPr>
              <a:t>   </a:t>
            </a:r>
            <a:r>
              <a:rPr b="0" lang="pt-BR" sz="2660" spc="-1" strike="noStrike">
                <a:solidFill>
                  <a:schemeClr val="dk1"/>
                </a:solidFill>
                <a:latin typeface="Arial"/>
                <a:ea typeface="ＭＳ Ｐゴシック"/>
              </a:rPr>
              <a:t>Também gostaríamos de uma integração com APIs da própria PicMoney, com a conexão direta aos dados, permitindo uma análise ainda mais precisa e uma utilização mais intuitiva sem a necessidade de envio de planilhas por parte do usuário</a:t>
            </a:r>
            <a:endParaRPr b="0" lang="pt-BR" sz="26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Box 8"/>
          <p:cNvSpPr/>
          <p:nvPr/>
        </p:nvSpPr>
        <p:spPr>
          <a:xfrm>
            <a:off x="7959600" y="10343880"/>
            <a:ext cx="12867120" cy="155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1678320">
              <a:lnSpc>
                <a:spcPct val="100000"/>
              </a:lnSpc>
            </a:pPr>
            <a:r>
              <a:rPr b="1" lang="pt-BR" sz="5860" spc="-1" strike="noStrike">
                <a:solidFill>
                  <a:schemeClr val="dk1"/>
                </a:solidFill>
                <a:latin typeface="Arial"/>
                <a:ea typeface="ＭＳ Ｐゴシック"/>
              </a:rPr>
              <a:t>Imagens e ferramentas do Projeto</a:t>
            </a:r>
            <a:endParaRPr b="0" lang="pt-BR" sz="5860" spc="-1" strike="noStrike">
              <a:solidFill>
                <a:srgbClr val="000000"/>
              </a:solidFill>
              <a:latin typeface="Arial"/>
            </a:endParaRPr>
          </a:p>
          <a:p>
            <a:pPr algn="just" defTabSz="1678320">
              <a:lnSpc>
                <a:spcPct val="100000"/>
              </a:lnSpc>
              <a:spcAft>
                <a:spcPts val="1199"/>
              </a:spcAft>
            </a:pPr>
            <a:r>
              <a:rPr b="0" lang="pt-BR" sz="3740" spc="-1" strike="noStrike">
                <a:solidFill>
                  <a:schemeClr val="dk1"/>
                </a:solidFill>
                <a:latin typeface="Arial"/>
                <a:ea typeface="ＭＳ Ｐゴシック"/>
              </a:rPr>
              <a:t> </a:t>
            </a:r>
            <a:r>
              <a:rPr b="0" lang="pt-BR" sz="2660" spc="-1" strike="noStrike">
                <a:solidFill>
                  <a:schemeClr val="dk1"/>
                </a:solidFill>
                <a:latin typeface="Arial"/>
                <a:ea typeface="ＭＳ Ｐゴシック"/>
              </a:rPr>
              <a:t>	</a:t>
            </a:r>
            <a:endParaRPr b="0" lang="pt-BR" sz="266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" name="Imagem 4" descr="Uma imagem contendo óculos&#10;&#10;O conteúdo gerado por IA pode estar incorreto."/>
          <p:cNvPicPr/>
          <p:nvPr/>
        </p:nvPicPr>
        <p:blipFill>
          <a:blip r:embed="rId2"/>
          <a:stretch/>
        </p:blipFill>
        <p:spPr>
          <a:xfrm>
            <a:off x="122760" y="40356000"/>
            <a:ext cx="3094200" cy="3113640"/>
          </a:xfrm>
          <a:prstGeom prst="rect">
            <a:avLst/>
          </a:prstGeom>
          <a:ln w="0">
            <a:noFill/>
          </a:ln>
        </p:spPr>
      </p:pic>
      <p:pic>
        <p:nvPicPr>
          <p:cNvPr id="24" name="Imagem 9" descr="Uma imagem contendo óculos, caneca&#10;&#10;O conteúdo gerado por IA pode estar incorreto."/>
          <p:cNvPicPr/>
          <p:nvPr/>
        </p:nvPicPr>
        <p:blipFill>
          <a:blip r:embed="rId3"/>
          <a:stretch/>
        </p:blipFill>
        <p:spPr>
          <a:xfrm>
            <a:off x="25801920" y="40382640"/>
            <a:ext cx="3094200" cy="3103920"/>
          </a:xfrm>
          <a:prstGeom prst="rect">
            <a:avLst/>
          </a:prstGeom>
          <a:ln w="0">
            <a:noFill/>
          </a:ln>
        </p:spPr>
      </p:pic>
      <p:pic>
        <p:nvPicPr>
          <p:cNvPr id="25" name="Imagem 10" descr="Logotipo&#10;&#10;O conteúdo gerado por IA pode estar incorreto."/>
          <p:cNvPicPr/>
          <p:nvPr/>
        </p:nvPicPr>
        <p:blipFill>
          <a:blip r:embed="rId4"/>
          <a:stretch/>
        </p:blipFill>
        <p:spPr>
          <a:xfrm>
            <a:off x="21780000" y="14580000"/>
            <a:ext cx="5959800" cy="3078000"/>
          </a:xfrm>
          <a:prstGeom prst="rect">
            <a:avLst/>
          </a:prstGeom>
          <a:ln w="0">
            <a:noFill/>
          </a:ln>
        </p:spPr>
      </p:pic>
      <p:pic>
        <p:nvPicPr>
          <p:cNvPr id="26" name="Imagem 17" descr="Ícone&#10;&#10;O conteúdo gerado por IA pode estar incorreto."/>
          <p:cNvPicPr/>
          <p:nvPr/>
        </p:nvPicPr>
        <p:blipFill>
          <a:blip r:embed="rId5"/>
          <a:stretch/>
        </p:blipFill>
        <p:spPr>
          <a:xfrm>
            <a:off x="14029560" y="18720000"/>
            <a:ext cx="5769000" cy="5769000"/>
          </a:xfrm>
          <a:prstGeom prst="rect">
            <a:avLst/>
          </a:prstGeom>
          <a:ln w="0">
            <a:noFill/>
          </a:ln>
        </p:spPr>
      </p:pic>
      <p:pic>
        <p:nvPicPr>
          <p:cNvPr id="27" name="Imagem 18" descr="Ícone&#10;&#10;O conteúdo gerado por IA pode estar incorreto."/>
          <p:cNvPicPr/>
          <p:nvPr/>
        </p:nvPicPr>
        <p:blipFill>
          <a:blip r:embed="rId6"/>
          <a:stretch/>
        </p:blipFill>
        <p:spPr>
          <a:xfrm>
            <a:off x="14220000" y="12960000"/>
            <a:ext cx="5218560" cy="5218560"/>
          </a:xfrm>
          <a:prstGeom prst="rect">
            <a:avLst/>
          </a:prstGeom>
          <a:ln w="0">
            <a:noFill/>
          </a:ln>
        </p:spPr>
      </p:pic>
      <p:pic>
        <p:nvPicPr>
          <p:cNvPr id="28" name="" descr=""/>
          <p:cNvPicPr/>
          <p:nvPr/>
        </p:nvPicPr>
        <p:blipFill>
          <a:blip r:embed="rId7"/>
          <a:stretch/>
        </p:blipFill>
        <p:spPr>
          <a:xfrm>
            <a:off x="1518840" y="12741120"/>
            <a:ext cx="10798560" cy="5038560"/>
          </a:xfrm>
          <a:prstGeom prst="rect">
            <a:avLst/>
          </a:prstGeom>
          <a:ln w="0">
            <a:noFill/>
          </a:ln>
        </p:spPr>
      </p:pic>
      <p:pic>
        <p:nvPicPr>
          <p:cNvPr id="29" name="" descr=""/>
          <p:cNvPicPr/>
          <p:nvPr/>
        </p:nvPicPr>
        <p:blipFill>
          <a:blip r:embed="rId8"/>
          <a:stretch/>
        </p:blipFill>
        <p:spPr>
          <a:xfrm>
            <a:off x="1519200" y="19105200"/>
            <a:ext cx="10913760" cy="5193360"/>
          </a:xfrm>
          <a:prstGeom prst="rect">
            <a:avLst/>
          </a:prstGeom>
          <a:ln w="0">
            <a:noFill/>
          </a:ln>
        </p:spPr>
      </p:pic>
      <p:pic>
        <p:nvPicPr>
          <p:cNvPr id="30" name="" descr=""/>
          <p:cNvPicPr/>
          <p:nvPr/>
        </p:nvPicPr>
        <p:blipFill>
          <a:blip r:embed="rId9"/>
          <a:stretch/>
        </p:blipFill>
        <p:spPr>
          <a:xfrm>
            <a:off x="1519200" y="25560000"/>
            <a:ext cx="10798560" cy="5038560"/>
          </a:xfrm>
          <a:prstGeom prst="rect">
            <a:avLst/>
          </a:prstGeom>
          <a:ln w="0">
            <a:noFill/>
          </a:ln>
        </p:spPr>
      </p:pic>
      <p:pic>
        <p:nvPicPr>
          <p:cNvPr id="31" name="" descr=""/>
          <p:cNvPicPr/>
          <p:nvPr/>
        </p:nvPicPr>
        <p:blipFill>
          <a:blip r:embed="rId10"/>
          <a:stretch/>
        </p:blipFill>
        <p:spPr>
          <a:xfrm>
            <a:off x="21960000" y="18720000"/>
            <a:ext cx="5525280" cy="5525280"/>
          </a:xfrm>
          <a:prstGeom prst="rect">
            <a:avLst/>
          </a:prstGeom>
          <a:ln w="0">
            <a:noFill/>
          </a:ln>
        </p:spPr>
      </p:pic>
      <p:pic>
        <p:nvPicPr>
          <p:cNvPr id="32" name="" descr=""/>
          <p:cNvPicPr/>
          <p:nvPr/>
        </p:nvPicPr>
        <p:blipFill>
          <a:blip r:embed="rId11"/>
          <a:stretch/>
        </p:blipFill>
        <p:spPr>
          <a:xfrm>
            <a:off x="15338520" y="24490440"/>
            <a:ext cx="11061000" cy="829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737</TotalTime>
  <Application>LibreOffice/24.2.7.2$Linux_X86_64 LibreOffice_project/420$Build-2</Application>
  <AppVersion>15.0000</AppVersion>
  <Company>Home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2006-11-04T15:46:42Z</dcterms:created>
  <dc:creator>Jr</dc:creator>
  <dc:description/>
  <dc:language>pt-BR</dc:language>
  <cp:lastModifiedBy/>
  <dcterms:modified xsi:type="dcterms:W3CDTF">2025-11-03T13:47:05Z</dcterms:modified>
  <cp:revision>74</cp:revision>
  <dc:subject/>
  <dc:title>Slide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0x01010045364877AF745B4281652B53F43C594A</vt:lpwstr>
  </property>
  <property fmtid="{D5CDD505-2E9C-101B-9397-08002B2CF9AE}" pid="3" name="Notes">
    <vt:r8>1</vt:r8>
  </property>
  <property fmtid="{D5CDD505-2E9C-101B-9397-08002B2CF9AE}" pid="4" name="PresentationFormat">
    <vt:lpwstr>Personalizar</vt:lpwstr>
  </property>
  <property fmtid="{D5CDD505-2E9C-101B-9397-08002B2CF9AE}" pid="5" name="Slides">
    <vt:r8>1</vt:r8>
  </property>
</Properties>
</file>